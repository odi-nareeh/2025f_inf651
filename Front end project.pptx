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50" d="100"/>
          <a:sy n="50" d="100"/>
        </p:scale>
        <p:origin x="48" y="9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11/25/2025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11/25/2025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11/25/2025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11/25/2025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11/25/2025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11/25/2025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11/25/2025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11/25/2025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11/25/2025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11/25/2025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11/25/2025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11/25/2025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Front end project</a:t>
            </a:r>
            <a:br>
              <a:rPr lang="en-US" sz="8000" dirty="0"/>
            </a:b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120132" y="4672739"/>
            <a:ext cx="6587050" cy="1369125"/>
          </a:xfrm>
        </p:spPr>
        <p:txBody>
          <a:bodyPr>
            <a:normAutofit/>
          </a:bodyPr>
          <a:lstStyle/>
          <a:p>
            <a:r>
              <a:rPr lang="en-US" sz="2400" dirty="0">
                <a:solidFill>
                  <a:schemeClr val="tx1">
                    <a:lumMod val="85000"/>
                    <a:lumOff val="15000"/>
                  </a:schemeClr>
                </a:solidFill>
              </a:rPr>
              <a:t>Chandler Nixon</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3182-64D2-7F40-7E9A-F0E7CACDA3B9}"/>
              </a:ext>
            </a:extLst>
          </p:cNvPr>
          <p:cNvSpPr>
            <a:spLocks noGrp="1"/>
          </p:cNvSpPr>
          <p:nvPr>
            <p:ph type="title"/>
          </p:nvPr>
        </p:nvSpPr>
        <p:spPr/>
        <p:txBody>
          <a:bodyPr/>
          <a:lstStyle/>
          <a:p>
            <a:r>
              <a:rPr lang="en-US" dirty="0"/>
              <a:t>I. Overview and Application Purpose</a:t>
            </a:r>
          </a:p>
        </p:txBody>
      </p:sp>
      <p:sp>
        <p:nvSpPr>
          <p:cNvPr id="3" name="Content Placeholder 2">
            <a:extLst>
              <a:ext uri="{FF2B5EF4-FFF2-40B4-BE49-F238E27FC236}">
                <a16:creationId xmlns:a16="http://schemas.microsoft.com/office/drawing/2014/main" id="{B284C11B-BEC3-CC59-5C9B-4EA6AABA6682}"/>
              </a:ext>
            </a:extLst>
          </p:cNvPr>
          <p:cNvSpPr>
            <a:spLocks noGrp="1"/>
          </p:cNvSpPr>
          <p:nvPr>
            <p:ph idx="1"/>
          </p:nvPr>
        </p:nvSpPr>
        <p:spPr>
          <a:xfrm>
            <a:off x="1097280" y="2108201"/>
            <a:ext cx="10058400" cy="4083049"/>
          </a:xfrm>
        </p:spPr>
        <p:txBody>
          <a:bodyPr>
            <a:noAutofit/>
          </a:bodyPr>
          <a:lstStyle/>
          <a:p>
            <a:r>
              <a:rPr lang="en-US" sz="2400" dirty="0">
                <a:latin typeface="Times New Roman" panose="02020603050405020304" pitchFamily="18" charset="0"/>
                <a:cs typeface="Times New Roman" panose="02020603050405020304" pitchFamily="18" charset="0"/>
              </a:rPr>
              <a:t>This report provides the design of Coffee Explorer, a Web 2.0 front-end interactive web application that was created as a Final Project requirement. The key purpose of the application is to mimic a dynamic customer experience in the setting of the coffee shop, where the user can browse a menu, filter products on the fly, manage a shopping cart, and make inquiries based on a validated contact form. The application is entirely developed in HTML, CSS, and Pure JavaScript, showing the knowledge of fundamental concepts in the front-end. The user experience is designed as multi-page application (SPA) although as one file, namely index.html, and which has separate sections of Home/About, Menu/Order (Service/Product) and Contact.</a:t>
            </a:r>
          </a:p>
        </p:txBody>
      </p:sp>
    </p:spTree>
    <p:extLst>
      <p:ext uri="{BB962C8B-B14F-4D97-AF65-F5344CB8AC3E}">
        <p14:creationId xmlns:p14="http://schemas.microsoft.com/office/powerpoint/2010/main" val="3856238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6CDFF-1098-4478-4967-F0E731F6339D}"/>
              </a:ext>
            </a:extLst>
          </p:cNvPr>
          <p:cNvSpPr>
            <a:spLocks noGrp="1"/>
          </p:cNvSpPr>
          <p:nvPr>
            <p:ph type="title"/>
          </p:nvPr>
        </p:nvSpPr>
        <p:spPr/>
        <p:txBody>
          <a:bodyPr/>
          <a:lstStyle/>
          <a:p>
            <a:r>
              <a:rPr lang="en-US" dirty="0"/>
              <a:t>II. Features and Implementation Detail</a:t>
            </a:r>
          </a:p>
        </p:txBody>
      </p:sp>
      <p:sp>
        <p:nvSpPr>
          <p:cNvPr id="3" name="Content Placeholder 2">
            <a:extLst>
              <a:ext uri="{FF2B5EF4-FFF2-40B4-BE49-F238E27FC236}">
                <a16:creationId xmlns:a16="http://schemas.microsoft.com/office/drawing/2014/main" id="{96A976D5-6D65-ED7C-814D-E867F58776DC}"/>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Home and About Section</a:t>
            </a:r>
          </a:p>
          <a:p>
            <a:r>
              <a:rPr lang="en-US" sz="2400" dirty="0">
                <a:latin typeface="Times New Roman" panose="02020603050405020304" pitchFamily="18" charset="0"/>
                <a:cs typeface="Times New Roman" panose="02020603050405020304" pitchFamily="18" charset="0"/>
              </a:rPr>
              <a:t>The first one is a landing page and the section where it is described how it is. It has a dynamic component to display a daily special by having an Event Listener on the View today Special button to switch a notify box. Importantly, the About section has an expandable such a component as the Meet the Roasters. On clicking the 'Show/Hide' button, the JavaScript will do a DOM Manipulations of addition or removal of the hidden class to the content container. Here we can see how events can easily be used, but effectively, to manage page layout.</a:t>
            </a:r>
          </a:p>
        </p:txBody>
      </p:sp>
    </p:spTree>
    <p:extLst>
      <p:ext uri="{BB962C8B-B14F-4D97-AF65-F5344CB8AC3E}">
        <p14:creationId xmlns:p14="http://schemas.microsoft.com/office/powerpoint/2010/main" val="420037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F7CE0-5CA5-776E-37CF-576ABA4C9606}"/>
              </a:ext>
            </a:extLst>
          </p:cNvPr>
          <p:cNvSpPr>
            <a:spLocks noGrp="1"/>
          </p:cNvSpPr>
          <p:nvPr>
            <p:ph type="title"/>
          </p:nvPr>
        </p:nvSpPr>
        <p:spPr/>
        <p:txBody>
          <a:bodyPr/>
          <a:lstStyle/>
          <a:p>
            <a:r>
              <a:rPr lang="en-US" dirty="0"/>
              <a:t>Menu/Order Section (Service/Product)</a:t>
            </a:r>
          </a:p>
        </p:txBody>
      </p:sp>
      <p:sp>
        <p:nvSpPr>
          <p:cNvPr id="3" name="Content Placeholder 2">
            <a:extLst>
              <a:ext uri="{FF2B5EF4-FFF2-40B4-BE49-F238E27FC236}">
                <a16:creationId xmlns:a16="http://schemas.microsoft.com/office/drawing/2014/main" id="{04D58879-3F49-907A-1A16-DDFE8E157518}"/>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This is the fundamental interactive part of the application. The Data Handling is shown in that the menu items are stored in a JavaScript Array of Objects. The renderMenuItems() method applies a forEach loop to sequentially process this array and dynamically create HTML structure of each item and it is added to the Dom. This makes the menu content flexible and not hard coded.</a:t>
            </a:r>
          </a:p>
        </p:txBody>
      </p:sp>
    </p:spTree>
    <p:extLst>
      <p:ext uri="{BB962C8B-B14F-4D97-AF65-F5344CB8AC3E}">
        <p14:creationId xmlns:p14="http://schemas.microsoft.com/office/powerpoint/2010/main" val="2813793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4FEE4-5857-5B7E-54E4-DCAD8C45EC66}"/>
              </a:ext>
            </a:extLst>
          </p:cNvPr>
          <p:cNvSpPr>
            <a:spLocks noGrp="1"/>
          </p:cNvSpPr>
          <p:nvPr>
            <p:ph type="title"/>
          </p:nvPr>
        </p:nvSpPr>
        <p:spPr/>
        <p:txBody>
          <a:bodyPr/>
          <a:lstStyle/>
          <a:p>
            <a:r>
              <a:rPr lang="en-US" dirty="0"/>
              <a:t>Search and Filter Functionality.</a:t>
            </a:r>
          </a:p>
        </p:txBody>
      </p:sp>
      <p:sp>
        <p:nvSpPr>
          <p:cNvPr id="3" name="Content Placeholder 2">
            <a:extLst>
              <a:ext uri="{FF2B5EF4-FFF2-40B4-BE49-F238E27FC236}">
                <a16:creationId xmlns:a16="http://schemas.microsoft.com/office/drawing/2014/main" id="{E16579B9-7698-74E5-AD35-A0DC6CA746B3}"/>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search input field and category dropdown are added to the application. Each of these two inputs has Event Listeners (keyup, change) which causes the filterAndSearch() functionality. This function uses a looping method of .filter to the menuItems array, and Conditional Logic (if/else) is used to determine whether the name of the item in the array matches the search term and whether the item matches the filter used. The process is instant and responsive in filtering, and it improves the user experience.</a:t>
            </a:r>
          </a:p>
        </p:txBody>
      </p:sp>
    </p:spTree>
    <p:extLst>
      <p:ext uri="{BB962C8B-B14F-4D97-AF65-F5344CB8AC3E}">
        <p14:creationId xmlns:p14="http://schemas.microsoft.com/office/powerpoint/2010/main" val="4054496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3A8F6-0BAD-6864-6609-AAB6ADA23ED3}"/>
              </a:ext>
            </a:extLst>
          </p:cNvPr>
          <p:cNvSpPr>
            <a:spLocks noGrp="1"/>
          </p:cNvSpPr>
          <p:nvPr>
            <p:ph type="title"/>
          </p:nvPr>
        </p:nvSpPr>
        <p:spPr/>
        <p:txBody>
          <a:bodyPr/>
          <a:lstStyle/>
          <a:p>
            <a:r>
              <a:rPr lang="en-US" dirty="0"/>
              <a:t>Shopping Cart System</a:t>
            </a:r>
          </a:p>
        </p:txBody>
      </p:sp>
      <p:sp>
        <p:nvSpPr>
          <p:cNvPr id="3" name="Content Placeholder 2">
            <a:extLst>
              <a:ext uri="{FF2B5EF4-FFF2-40B4-BE49-F238E27FC236}">
                <a16:creationId xmlns:a16="http://schemas.microsoft.com/office/drawing/2014/main" id="{E0DED5DC-7DF1-9CE7-6C67-578C72E05AB7}"/>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shoppingCart Array manages the cart functionality and items that are added by the user are stored in it. The Event caused by clicking any of the dynamically rendered 'Add to Cart' buttons calls the addToCart() function. This operation will be added to the array, the state is stored to the browsers localStorage (so it can be persisted) and the Reusable Function updateCartDisplay() is called. Another Reusable Function, the calculateCartTotal() function, is another powerful and useful Reusable Function that more or less uses the power of loop, the reduce method to quickly add the total cost of all the items in the cart and this is displayed in both the modal and the header.</a:t>
            </a:r>
          </a:p>
        </p:txBody>
      </p:sp>
    </p:spTree>
    <p:extLst>
      <p:ext uri="{BB962C8B-B14F-4D97-AF65-F5344CB8AC3E}">
        <p14:creationId xmlns:p14="http://schemas.microsoft.com/office/powerpoint/2010/main" val="3508774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E5F13-3AD0-114A-9725-744EC4592B3F}"/>
              </a:ext>
            </a:extLst>
          </p:cNvPr>
          <p:cNvSpPr>
            <a:spLocks noGrp="1"/>
          </p:cNvSpPr>
          <p:nvPr>
            <p:ph type="title"/>
          </p:nvPr>
        </p:nvSpPr>
        <p:spPr/>
        <p:txBody>
          <a:bodyPr/>
          <a:lstStyle/>
          <a:p>
            <a:r>
              <a:rPr lang="en-US" dirty="0"/>
              <a:t>Contact Form Validation</a:t>
            </a:r>
          </a:p>
        </p:txBody>
      </p:sp>
      <p:sp>
        <p:nvSpPr>
          <p:cNvPr id="3" name="Content Placeholder 2">
            <a:extLst>
              <a:ext uri="{FF2B5EF4-FFF2-40B4-BE49-F238E27FC236}">
                <a16:creationId xmlns:a16="http://schemas.microsoft.com/office/drawing/2014/main" id="{424B4E84-05CD-7ACC-ECA7-76E4CAD1985B}"/>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Contact section has a standard form. When this information has been submitted, the validateForm() function is called to block the default HTML submission. This operation carries out a number of Conditional Logic verifications, such as the length of the name required to be filled in by the user is long enough, and the email field has a simple regular expression pattern. In case of failure in the validation check, a DOM Manipulation is applied to provide a certain error message beside the input field and instruct the user to make corrections on his/her input before a successful and simulated submission notification is provided.</a:t>
            </a:r>
          </a:p>
        </p:txBody>
      </p:sp>
    </p:spTree>
    <p:extLst>
      <p:ext uri="{BB962C8B-B14F-4D97-AF65-F5344CB8AC3E}">
        <p14:creationId xmlns:p14="http://schemas.microsoft.com/office/powerpoint/2010/main" val="2528013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6FF9-1B05-3AED-D170-C6AAC6E6E31F}"/>
              </a:ext>
            </a:extLst>
          </p:cNvPr>
          <p:cNvSpPr>
            <a:spLocks noGrp="1"/>
          </p:cNvSpPr>
          <p:nvPr>
            <p:ph type="title"/>
          </p:nvPr>
        </p:nvSpPr>
        <p:spPr/>
        <p:txBody>
          <a:bodyPr/>
          <a:lstStyle/>
          <a:p>
            <a:r>
              <a:rPr lang="en-US" dirty="0"/>
              <a:t>Challenges and Solutions</a:t>
            </a:r>
          </a:p>
        </p:txBody>
      </p:sp>
      <p:sp>
        <p:nvSpPr>
          <p:cNvPr id="3" name="Content Placeholder 2">
            <a:extLst>
              <a:ext uri="{FF2B5EF4-FFF2-40B4-BE49-F238E27FC236}">
                <a16:creationId xmlns:a16="http://schemas.microsoft.com/office/drawing/2014/main" id="{F5095D7E-FB29-7F32-AE6F-AAEB2E2366A6}"/>
              </a:ext>
            </a:extLst>
          </p:cNvPr>
          <p:cNvSpPr>
            <a:spLocks noGrp="1"/>
          </p:cNvSpPr>
          <p:nvPr>
            <p:ph idx="1"/>
          </p:nvPr>
        </p:nvSpPr>
        <p:spPr/>
        <p:txBody>
          <a:bodyPr>
            <a:noAutofit/>
          </a:bodyPr>
          <a:lstStyle/>
          <a:p>
            <a:r>
              <a:rPr lang="en-US" sz="2000" dirty="0">
                <a:latin typeface="Times New Roman" panose="02020603050405020304" pitchFamily="18" charset="0"/>
                <a:cs typeface="Times New Roman" panose="02020603050405020304" pitchFamily="18" charset="0"/>
              </a:rPr>
              <a:t>One of the main issues was to make sure that the cart state remained as the user moved back and forth through the simulated "pages" (sections). This was addressed through the use of localStorage in the browser by inserting the saveCart() function in order to store the cart array each time it is changed. The second difficulty was to bind the dynamically created Add to Cart buttons, the ones that are created through JavaScript properly. It was solved by ensuring that these listeners were bound within the renderMenuItems() function and thus each newly rendered button was instantly interactive.</a:t>
            </a:r>
          </a:p>
          <a:p>
            <a:r>
              <a:rPr lang="en-US" sz="2000" dirty="0">
                <a:latin typeface="Times New Roman" panose="02020603050405020304" pitchFamily="18" charset="0"/>
                <a:cs typeface="Times New Roman" panose="02020603050405020304" pitchFamily="18" charset="0"/>
              </a:rPr>
              <a:t>Future enhancements: he possible future: incorporating the information of an external JSON file or server-side API to control the menu items, the ability to change the quantities of items or delete them of the cart modal, and more sophisticated checkout operations.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3379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859B-D898-20E3-6629-70545120918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1E0152C-89D6-974E-714E-28F01CCEDF42}"/>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Coffee Explorer manages to show all the necessary principles of the project, such as Events, complex DOM Manipulation, Logic and Loops (filtering, validation), Data Handling (arrays, objects), and Reusable Functions. The end result is a single-page, modular, interactive and user-friendly application that meets the requirements of the assignment.</a:t>
            </a:r>
          </a:p>
        </p:txBody>
      </p:sp>
    </p:spTree>
    <p:extLst>
      <p:ext uri="{BB962C8B-B14F-4D97-AF65-F5344CB8AC3E}">
        <p14:creationId xmlns:p14="http://schemas.microsoft.com/office/powerpoint/2010/main" val="2518057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0974-C114-2D7B-DB94-3BE591E7A0DC}"/>
              </a:ext>
            </a:extLst>
          </p:cNvPr>
          <p:cNvSpPr>
            <a:spLocks noGrp="1"/>
          </p:cNvSpPr>
          <p:nvPr>
            <p:ph type="title"/>
          </p:nvPr>
        </p:nvSpPr>
        <p:spPr/>
        <p:txBody>
          <a:bodyPr/>
          <a:lstStyle/>
          <a:p>
            <a:r>
              <a:rPr lang="en-US" dirty="0"/>
              <a:t>Planning and Wireframes</a:t>
            </a:r>
          </a:p>
        </p:txBody>
      </p:sp>
      <p:sp>
        <p:nvSpPr>
          <p:cNvPr id="3" name="Content Placeholder 2">
            <a:extLst>
              <a:ext uri="{FF2B5EF4-FFF2-40B4-BE49-F238E27FC236}">
                <a16:creationId xmlns:a16="http://schemas.microsoft.com/office/drawing/2014/main" id="{C79D7808-05A2-775D-C748-F19117F7B319}"/>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The first stage of planning was to make a sketch of the layout as it could see that all the four necessary parts of the site were visually differentiated (Home, About, Service (Menu), and Contact). The wireframes centered on the study of the workflow of user data, namely, determining that the Menu Section is the main feature of the interface with dynamic rendering and filtering logic. The structure ensured that the Cart Summary, which is completely built with the help of JavaScript through state management, will always be visible in the header to deliver constant user feedback. The Contact form was designed with the purpose to demonstrate the validation logic and error message processing</a:t>
            </a:r>
            <a:r>
              <a:rPr lang="en-US" dirty="0"/>
              <a:t>.</a:t>
            </a:r>
          </a:p>
        </p:txBody>
      </p:sp>
    </p:spTree>
    <p:extLst>
      <p:ext uri="{BB962C8B-B14F-4D97-AF65-F5344CB8AC3E}">
        <p14:creationId xmlns:p14="http://schemas.microsoft.com/office/powerpoint/2010/main" val="946691995"/>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{B2A0A10C-E82F-44B5-A38D-AFB708EFA31B}TFf0a5ceae-4542-492d-822e-d65a94fb0e1e3b562c5a_win32-009a0557e699</Template>
  <TotalTime>47</TotalTime>
  <Words>1051</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Bookman Old Style</vt:lpstr>
      <vt:lpstr>Calibri</vt:lpstr>
      <vt:lpstr>Franklin Gothic Book</vt:lpstr>
      <vt:lpstr>Times New Roman</vt:lpstr>
      <vt:lpstr>Custom</vt:lpstr>
      <vt:lpstr>Front end project </vt:lpstr>
      <vt:lpstr>I. Overview and Application Purpose</vt:lpstr>
      <vt:lpstr>II. Features and Implementation Detail</vt:lpstr>
      <vt:lpstr>Menu/Order Section (Service/Product)</vt:lpstr>
      <vt:lpstr>Search and Filter Functionality.</vt:lpstr>
      <vt:lpstr>Shopping Cart System</vt:lpstr>
      <vt:lpstr>Contact Form Validation</vt:lpstr>
      <vt:lpstr>Challenges and Solutions</vt:lpstr>
      <vt:lpstr>Conclusion</vt:lpstr>
      <vt:lpstr>Planning and Wireframes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Lance Lannez</dc:creator>
  <cp:lastModifiedBy>Lance Lannez</cp:lastModifiedBy>
  <cp:revision>1</cp:revision>
  <dcterms:created xsi:type="dcterms:W3CDTF">2025-11-25T12:13:30Z</dcterms:created>
  <dcterms:modified xsi:type="dcterms:W3CDTF">2025-11-25T13:01:21Z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